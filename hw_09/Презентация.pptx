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1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48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931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572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44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92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830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80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77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92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092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046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184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357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197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326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488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44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94CECF0-C6B6-4254-AC7A-2D0F57FC46B2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E3003FB-CB28-4AB8-BB57-824A053650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738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FreeBSD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Бурмистров Вадим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80" y="2283534"/>
            <a:ext cx="4884420" cy="359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21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FreeBSD</a:t>
            </a:r>
            <a:r>
              <a:rPr lang="ru-RU" dirty="0"/>
              <a:t> и чем она отличается от </a:t>
            </a:r>
            <a:r>
              <a:rPr lang="ru-RU" dirty="0" err="1"/>
              <a:t>Linux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5" y="2273300"/>
            <a:ext cx="4775946" cy="4013200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Наследие:</a:t>
            </a:r>
            <a:r>
              <a:rPr lang="ru-RU" dirty="0"/>
              <a:t> Происходит от оригинального кода UNIX (</a:t>
            </a:r>
            <a:r>
              <a:rPr lang="ru-RU" dirty="0" err="1"/>
              <a:t>Berkeley</a:t>
            </a:r>
            <a:r>
              <a:rPr lang="ru-RU" dirty="0"/>
              <a:t> 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Distribution</a:t>
            </a:r>
            <a:r>
              <a:rPr lang="ru-RU" dirty="0"/>
              <a:t>), а не является клоном или дистрибутивом </a:t>
            </a:r>
            <a:r>
              <a:rPr lang="ru-RU" dirty="0" err="1"/>
              <a:t>Linux</a:t>
            </a:r>
            <a:endParaRPr lang="ru-RU" dirty="0" smtClean="0"/>
          </a:p>
          <a:p>
            <a:r>
              <a:rPr lang="ru-RU" b="1" dirty="0"/>
              <a:t>Единое целое:</a:t>
            </a:r>
            <a:r>
              <a:rPr lang="ru-RU" dirty="0"/>
              <a:t> Ядро, драйверы и пользовательские утилиты разрабатываются одной командой. В </a:t>
            </a:r>
            <a:r>
              <a:rPr lang="ru-RU" dirty="0" err="1"/>
              <a:t>Linux</a:t>
            </a:r>
            <a:r>
              <a:rPr lang="ru-RU" dirty="0"/>
              <a:t> вы получаете ядро от </a:t>
            </a:r>
            <a:r>
              <a:rPr lang="ru-RU" dirty="0" err="1"/>
              <a:t>Линуса</a:t>
            </a:r>
            <a:r>
              <a:rPr lang="ru-RU" dirty="0"/>
              <a:t> </a:t>
            </a:r>
            <a:r>
              <a:rPr lang="ru-RU" dirty="0" err="1"/>
              <a:t>Торвальдса</a:t>
            </a:r>
            <a:r>
              <a:rPr lang="ru-RU" dirty="0"/>
              <a:t>, а утилиты — от разных сообществ (</a:t>
            </a:r>
            <a:r>
              <a:rPr lang="ru-RU" dirty="0" err="1"/>
              <a:t>Debian</a:t>
            </a:r>
            <a:r>
              <a:rPr lang="ru-RU" dirty="0"/>
              <a:t>, </a:t>
            </a:r>
            <a:r>
              <a:rPr lang="ru-RU" dirty="0" err="1"/>
              <a:t>Red</a:t>
            </a:r>
            <a:r>
              <a:rPr lang="ru-RU" dirty="0"/>
              <a:t> </a:t>
            </a:r>
            <a:r>
              <a:rPr lang="ru-RU" dirty="0" err="1"/>
              <a:t>Hat</a:t>
            </a:r>
            <a:r>
              <a:rPr lang="ru-RU" dirty="0"/>
              <a:t> и т.д</a:t>
            </a:r>
            <a:r>
              <a:rPr lang="ru-RU" dirty="0" smtClean="0"/>
              <a:t>.)</a:t>
            </a:r>
          </a:p>
          <a:p>
            <a:r>
              <a:rPr lang="ru-RU" b="1" dirty="0"/>
              <a:t>Следствие:</a:t>
            </a:r>
            <a:r>
              <a:rPr lang="ru-RU" dirty="0"/>
              <a:t> Меньше проблем с совместимостью библиотек и более предсказуемое поведение системы.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850" y="2695575"/>
            <a:ext cx="32385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23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ZFS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5" y="2603500"/>
            <a:ext cx="4928345" cy="40005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Защита от </a:t>
            </a:r>
            <a:r>
              <a:rPr lang="ru-RU" dirty="0" smtClean="0"/>
              <a:t>битых </a:t>
            </a:r>
            <a:r>
              <a:rPr lang="ru-RU" dirty="0"/>
              <a:t>данных: ZFS вычисляет контрольные суммы для каждого блока. Если диск вернёт ошибку, система это заметит и, при наличии </a:t>
            </a:r>
            <a:r>
              <a:rPr lang="ru-RU" dirty="0" smtClean="0"/>
              <a:t>избыточности, </a:t>
            </a:r>
            <a:r>
              <a:rPr lang="ru-RU" dirty="0"/>
              <a:t>исправит данные на </a:t>
            </a:r>
            <a:r>
              <a:rPr lang="ru-RU" dirty="0" smtClean="0"/>
              <a:t>лету</a:t>
            </a:r>
            <a:r>
              <a:rPr lang="en-US" dirty="0" smtClean="0"/>
              <a:t>,</a:t>
            </a:r>
            <a:r>
              <a:rPr lang="ru-RU" dirty="0" smtClean="0"/>
              <a:t> опять же</a:t>
            </a:r>
            <a:r>
              <a:rPr lang="en-US" dirty="0" smtClean="0"/>
              <a:t> </a:t>
            </a:r>
            <a:r>
              <a:rPr lang="ru-RU" dirty="0"/>
              <a:t>если настроена </a:t>
            </a:r>
            <a:r>
              <a:rPr lang="ru-RU" dirty="0" smtClean="0"/>
              <a:t>избыточность.</a:t>
            </a:r>
            <a:endParaRPr lang="ru-RU" dirty="0"/>
          </a:p>
          <a:p>
            <a:endParaRPr lang="ru-RU" dirty="0"/>
          </a:p>
          <a:p>
            <a:r>
              <a:rPr lang="ru-RU" dirty="0"/>
              <a:t>Снимки (</a:t>
            </a:r>
            <a:r>
              <a:rPr lang="ru-RU" dirty="0" err="1"/>
              <a:t>Snapshots</a:t>
            </a:r>
            <a:r>
              <a:rPr lang="ru-RU" dirty="0"/>
              <a:t>): Атомарные снимки на уровне блоков. Не требуют остановки системы, изначально не занимают места и всегда целостны </a:t>
            </a:r>
            <a:r>
              <a:rPr lang="en-US" dirty="0" smtClean="0"/>
              <a:t>-</a:t>
            </a:r>
            <a:r>
              <a:rPr lang="ru-RU" dirty="0" smtClean="0"/>
              <a:t> </a:t>
            </a:r>
            <a:r>
              <a:rPr lang="ru-RU" dirty="0"/>
              <a:t>в отличие от снимков виртуальной машины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 err="1" smtClean="0"/>
              <a:t>Boot</a:t>
            </a:r>
            <a:r>
              <a:rPr lang="ru-RU" dirty="0" smtClean="0"/>
              <a:t> </a:t>
            </a:r>
            <a:r>
              <a:rPr lang="ru-RU" dirty="0" err="1"/>
              <a:t>Environments</a:t>
            </a:r>
            <a:r>
              <a:rPr lang="ru-RU" dirty="0"/>
              <a:t> (Среды загрузки): Возможность откатить всю систему (включая обновления) до предыдущего состояния за один </a:t>
            </a:r>
            <a:r>
              <a:rPr lang="ru-RU" dirty="0" err="1"/>
              <a:t>reboot</a:t>
            </a:r>
            <a:r>
              <a:rPr lang="ru-RU" dirty="0"/>
              <a:t>, если что-то пошло не так. Это спасает при неудачных обновлениях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275" y="2957512"/>
            <a:ext cx="45148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Jails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5" y="2603500"/>
            <a:ext cx="4712446" cy="34290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Принцип: </a:t>
            </a:r>
            <a:r>
              <a:rPr lang="ru-RU" dirty="0" err="1"/>
              <a:t>Jail</a:t>
            </a:r>
            <a:r>
              <a:rPr lang="ru-RU" dirty="0"/>
              <a:t> (тюрьма) — это изолированное окружение с собственной файловой системой, процессами и сетевым стеком. Она использует одно ядро с хост-системой, но не может видеть процессы снаружи .</a:t>
            </a:r>
          </a:p>
          <a:p>
            <a:endParaRPr lang="ru-RU" dirty="0"/>
          </a:p>
          <a:p>
            <a:r>
              <a:rPr lang="ru-RU" dirty="0"/>
              <a:t>Легковесность: По сравнению с виртуальными машинами, </a:t>
            </a:r>
            <a:r>
              <a:rPr lang="ru-RU" dirty="0" err="1"/>
              <a:t>Jails</a:t>
            </a:r>
            <a:r>
              <a:rPr lang="ru-RU" dirty="0"/>
              <a:t> потребляют минимум ресурсов.</a:t>
            </a:r>
          </a:p>
          <a:p>
            <a:endParaRPr lang="ru-RU" dirty="0"/>
          </a:p>
          <a:p>
            <a:r>
              <a:rPr lang="ru-RU" dirty="0"/>
              <a:t>Безопасность: Даже если злоумышленник взломает приложение в </a:t>
            </a:r>
            <a:r>
              <a:rPr lang="ru-RU" dirty="0" err="1"/>
              <a:t>Jail</a:t>
            </a:r>
            <a:r>
              <a:rPr lang="ru-RU" dirty="0"/>
              <a:t>, он останется заперт внутри неё и не сможет навредить основной системе.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846493"/>
            <a:ext cx="4965700" cy="306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2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Лицензия </a:t>
            </a:r>
            <a:r>
              <a:rPr lang="en-US" dirty="0"/>
              <a:t>BSD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5" y="2603500"/>
            <a:ext cx="5233145" cy="3416300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В отличие от GPL (</a:t>
            </a:r>
            <a:r>
              <a:rPr lang="ru-RU" b="1" dirty="0" err="1"/>
              <a:t>Linux</a:t>
            </a:r>
            <a:r>
              <a:rPr lang="ru-RU" b="1" dirty="0"/>
              <a:t>), лицензия BSD позволяет использовать код в закрытых продуктах без обязательства делиться изменениями </a:t>
            </a:r>
            <a:r>
              <a:rPr lang="ru-RU" b="1" dirty="0" smtClean="0"/>
              <a:t>.</a:t>
            </a:r>
            <a:endParaRPr lang="ru-RU" dirty="0"/>
          </a:p>
          <a:p>
            <a:r>
              <a:rPr lang="ru-RU" dirty="0" smtClean="0"/>
              <a:t>Суть</a:t>
            </a:r>
            <a:r>
              <a:rPr lang="ru-RU" dirty="0"/>
              <a:t>: Вы можете взять </a:t>
            </a:r>
            <a:r>
              <a:rPr lang="ru-RU" dirty="0" err="1"/>
              <a:t>FreeBSD</a:t>
            </a:r>
            <a:r>
              <a:rPr lang="ru-RU" dirty="0"/>
              <a:t>, модифицировать её под свои нужды и продавать как часть своего продукта, не открывая исходный код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 smtClean="0"/>
              <a:t>Результат</a:t>
            </a:r>
            <a:r>
              <a:rPr lang="ru-RU" dirty="0"/>
              <a:t>: Именно поэтому </a:t>
            </a:r>
            <a:r>
              <a:rPr lang="ru-RU" dirty="0" err="1" smtClean="0"/>
              <a:t>FreeBSD</a:t>
            </a:r>
            <a:r>
              <a:rPr lang="ru-RU" dirty="0" smtClean="0"/>
              <a:t> </a:t>
            </a:r>
            <a:r>
              <a:rPr lang="ru-RU" dirty="0"/>
              <a:t>лежит в основе таких </a:t>
            </a:r>
            <a:r>
              <a:rPr lang="ru-RU" dirty="0" smtClean="0"/>
              <a:t>гигантов, </a:t>
            </a:r>
            <a:r>
              <a:rPr lang="ru-RU" dirty="0"/>
              <a:t>как </a:t>
            </a:r>
            <a:r>
              <a:rPr lang="ru-RU" dirty="0" err="1" smtClean="0"/>
              <a:t>Netflix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 smtClean="0"/>
              <a:t> </a:t>
            </a:r>
            <a:r>
              <a:rPr lang="ru-RU" dirty="0" err="1" smtClean="0"/>
              <a:t>Sony</a:t>
            </a:r>
            <a:r>
              <a:rPr lang="ru-RU" dirty="0" smtClean="0"/>
              <a:t> </a:t>
            </a:r>
            <a:r>
              <a:rPr lang="ru-RU" dirty="0" err="1" smtClean="0"/>
              <a:t>PlayStation</a:t>
            </a:r>
            <a:r>
              <a:rPr lang="ru-RU" dirty="0" smtClean="0"/>
              <a:t>(</a:t>
            </a:r>
            <a:r>
              <a:rPr lang="en-US" dirty="0" smtClean="0"/>
              <a:t>PS3, PS4</a:t>
            </a:r>
            <a:r>
              <a:rPr lang="ru-RU" dirty="0" smtClean="0"/>
              <a:t> и </a:t>
            </a:r>
            <a:r>
              <a:rPr lang="en-US" dirty="0" smtClean="0"/>
              <a:t>PS5</a:t>
            </a:r>
            <a:r>
              <a:rPr lang="ru-RU" dirty="0" smtClean="0"/>
              <a:t> используют </a:t>
            </a:r>
            <a:r>
              <a:rPr lang="en-US" dirty="0" err="1" smtClean="0"/>
              <a:t>Orbis</a:t>
            </a:r>
            <a:r>
              <a:rPr lang="en-US" dirty="0" smtClean="0"/>
              <a:t> OS, </a:t>
            </a:r>
            <a:r>
              <a:rPr lang="ru-RU" dirty="0" smtClean="0"/>
              <a:t>которая основана на </a:t>
            </a:r>
            <a:r>
              <a:rPr lang="en-US" dirty="0" smtClean="0"/>
              <a:t>FreeBSD</a:t>
            </a:r>
            <a:r>
              <a:rPr lang="ru-RU" dirty="0" smtClean="0"/>
              <a:t>, но все же это сильно модифицированная система)</a:t>
            </a:r>
            <a:r>
              <a:rPr lang="en-US" dirty="0" smtClean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0" y="4494211"/>
            <a:ext cx="3632200" cy="204311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0" y="2499664"/>
            <a:ext cx="3632200" cy="204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1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Кому и зачем нужна </a:t>
            </a:r>
            <a:r>
              <a:rPr lang="ru-RU" dirty="0" err="1"/>
              <a:t>FreeBSD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5" y="2603500"/>
            <a:ext cx="5969746" cy="3416300"/>
          </a:xfrm>
        </p:spPr>
        <p:txBody>
          <a:bodyPr/>
          <a:lstStyle/>
          <a:p>
            <a:r>
              <a:rPr lang="ru-RU" dirty="0"/>
              <a:t>Для серверов: Феноменальная </a:t>
            </a:r>
            <a:r>
              <a:rPr lang="ru-RU" dirty="0" smtClean="0"/>
              <a:t>стабильность и </a:t>
            </a:r>
            <a:r>
              <a:rPr lang="ru-RU" dirty="0"/>
              <a:t>предсказуемая </a:t>
            </a:r>
            <a:r>
              <a:rPr lang="ru-RU" dirty="0" smtClean="0"/>
              <a:t>производительность. </a:t>
            </a:r>
            <a:r>
              <a:rPr lang="ru-RU" dirty="0" err="1"/>
              <a:t>FreeBSD</a:t>
            </a:r>
            <a:r>
              <a:rPr lang="ru-RU" dirty="0"/>
              <a:t> 15.0 показывает сопоставимую или лучшую производительность в ряде </a:t>
            </a:r>
            <a:r>
              <a:rPr lang="ru-RU" dirty="0" smtClean="0"/>
              <a:t>сценариев</a:t>
            </a:r>
            <a:r>
              <a:rPr lang="en-US" dirty="0" smtClean="0"/>
              <a:t> </a:t>
            </a:r>
            <a:r>
              <a:rPr lang="ru-RU" dirty="0" smtClean="0"/>
              <a:t>при сравнениях с </a:t>
            </a:r>
            <a:r>
              <a:rPr lang="en-US" dirty="0" smtClean="0"/>
              <a:t>Linux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Для изучения: Это </a:t>
            </a:r>
            <a:r>
              <a:rPr lang="ru-RU" dirty="0" smtClean="0"/>
              <a:t>живой </a:t>
            </a:r>
            <a:r>
              <a:rPr lang="ru-RU" dirty="0"/>
              <a:t>UNIX, на котором удобно понимать, как устроены операционные системы.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701" y="2997200"/>
            <a:ext cx="4315177" cy="242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4671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62</TotalTime>
  <Words>384</Words>
  <Application>Microsoft Office PowerPoint</Application>
  <PresentationFormat>Широкоэкранный</PresentationFormat>
  <Paragraphs>25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Совет директоров</vt:lpstr>
      <vt:lpstr>FreeBSD</vt:lpstr>
      <vt:lpstr>Что такое FreeBSD и чем она отличается от Linux?</vt:lpstr>
      <vt:lpstr>ZFS</vt:lpstr>
      <vt:lpstr>Jails</vt:lpstr>
      <vt:lpstr>Лицензия BSD</vt:lpstr>
      <vt:lpstr>Кому и зачем нужна FreeBSD?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FreeBSD</dc:title>
  <dc:creator>HYPERPC</dc:creator>
  <cp:lastModifiedBy>HYPERPC</cp:lastModifiedBy>
  <cp:revision>8</cp:revision>
  <dcterms:created xsi:type="dcterms:W3CDTF">2026-10-01T06:03:27Z</dcterms:created>
  <dcterms:modified xsi:type="dcterms:W3CDTF">2026-10-01T07:06:07Z</dcterms:modified>
</cp:coreProperties>
</file>